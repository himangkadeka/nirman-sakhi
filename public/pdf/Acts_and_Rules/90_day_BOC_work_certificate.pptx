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4"/>
  </p:notesMasterIdLst>
  <p:sldIdLst>
    <p:sldId id="257" r:id="rId2"/>
    <p:sldId id="258" r:id="rId3"/>
  </p:sldIdLst>
  <p:sldSz cx="9906000" cy="6858000" type="A4"/>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1277" y="58"/>
      </p:cViewPr>
      <p:guideLst>
        <p:guide orient="horz" pos="2160"/>
        <p:guide pos="31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91D29D91-1896-41E1-B176-1D57BF7DFEBB}" type="datetimeFigureOut">
              <a:rPr lang="en-US" smtClean="0"/>
              <a:pPr/>
              <a:t>1/9/2025</a:t>
            </a:fld>
            <a:endParaRPr lang="en-US"/>
          </a:p>
        </p:txBody>
      </p:sp>
      <p:sp>
        <p:nvSpPr>
          <p:cNvPr id="4" name="Slide Image Placeholder 3"/>
          <p:cNvSpPr>
            <a:spLocks noGrp="1" noRot="1" noChangeAspect="1"/>
          </p:cNvSpPr>
          <p:nvPr>
            <p:ph type="sldImg" idx="2"/>
          </p:nvPr>
        </p:nvSpPr>
        <p:spPr>
          <a:xfrm>
            <a:off x="1057275" y="720725"/>
            <a:ext cx="520065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DCE1A24B-3ECE-4278-8C6D-6EBCFCFFAAC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CE1A24B-3ECE-4278-8C6D-6EBCFCFFAAC9}"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6A3278-9926-40B0-9828-30EA3C54A7CD}" type="datetimeFigureOut">
              <a:rPr lang="en-US" smtClean="0"/>
              <a:pPr/>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0B032C-00CB-43EC-A815-6326E09A796D}" type="slidenum">
              <a:rPr lang="en-US" smtClean="0"/>
              <a:pPr/>
              <a:t>‹#›</a:t>
            </a:fld>
            <a:endParaRPr lang="en-US"/>
          </a:p>
        </p:txBody>
      </p:sp>
    </p:spTree>
    <p:extLst>
      <p:ext uri="{BB962C8B-B14F-4D97-AF65-F5344CB8AC3E}">
        <p14:creationId xmlns:p14="http://schemas.microsoft.com/office/powerpoint/2010/main" val="3105796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6A3278-9926-40B0-9828-30EA3C54A7CD}" type="datetimeFigureOut">
              <a:rPr lang="en-US" smtClean="0"/>
              <a:pPr/>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0B032C-00CB-43EC-A815-6326E09A796D}" type="slidenum">
              <a:rPr lang="en-US" smtClean="0"/>
              <a:pPr/>
              <a:t>‹#›</a:t>
            </a:fld>
            <a:endParaRPr lang="en-US"/>
          </a:p>
        </p:txBody>
      </p:sp>
    </p:spTree>
    <p:extLst>
      <p:ext uri="{BB962C8B-B14F-4D97-AF65-F5344CB8AC3E}">
        <p14:creationId xmlns:p14="http://schemas.microsoft.com/office/powerpoint/2010/main" val="4056651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6A3278-9926-40B0-9828-30EA3C54A7CD}" type="datetimeFigureOut">
              <a:rPr lang="en-US" smtClean="0"/>
              <a:pPr/>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0B032C-00CB-43EC-A815-6326E09A796D}" type="slidenum">
              <a:rPr lang="en-US" smtClean="0"/>
              <a:pPr/>
              <a:t>‹#›</a:t>
            </a:fld>
            <a:endParaRPr lang="en-US"/>
          </a:p>
        </p:txBody>
      </p:sp>
    </p:spTree>
    <p:extLst>
      <p:ext uri="{BB962C8B-B14F-4D97-AF65-F5344CB8AC3E}">
        <p14:creationId xmlns:p14="http://schemas.microsoft.com/office/powerpoint/2010/main" val="3387725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6A3278-9926-40B0-9828-30EA3C54A7CD}" type="datetimeFigureOut">
              <a:rPr lang="en-US" smtClean="0"/>
              <a:pPr/>
              <a:t>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0B032C-00CB-43EC-A815-6326E09A796D}" type="slidenum">
              <a:rPr lang="en-US" smtClean="0"/>
              <a:pPr/>
              <a:t>‹#›</a:t>
            </a:fld>
            <a:endParaRPr lang="en-US"/>
          </a:p>
        </p:txBody>
      </p:sp>
    </p:spTree>
    <p:extLst>
      <p:ext uri="{BB962C8B-B14F-4D97-AF65-F5344CB8AC3E}">
        <p14:creationId xmlns:p14="http://schemas.microsoft.com/office/powerpoint/2010/main" val="4271522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6A3278-9926-40B0-9828-30EA3C54A7CD}" type="datetimeFigureOut">
              <a:rPr lang="en-US" smtClean="0"/>
              <a:pPr/>
              <a:t>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0B032C-00CB-43EC-A815-6326E09A796D}" type="slidenum">
              <a:rPr lang="en-US" smtClean="0"/>
              <a:pPr/>
              <a:t>‹#›</a:t>
            </a:fld>
            <a:endParaRPr lang="en-US"/>
          </a:p>
        </p:txBody>
      </p:sp>
    </p:spTree>
    <p:extLst>
      <p:ext uri="{BB962C8B-B14F-4D97-AF65-F5344CB8AC3E}">
        <p14:creationId xmlns:p14="http://schemas.microsoft.com/office/powerpoint/2010/main" val="1352099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6A3278-9926-40B0-9828-30EA3C54A7CD}" type="datetimeFigureOut">
              <a:rPr lang="en-US" smtClean="0"/>
              <a:pPr/>
              <a:t>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0B032C-00CB-43EC-A815-6326E09A796D}" type="slidenum">
              <a:rPr lang="en-US" smtClean="0"/>
              <a:pPr/>
              <a:t>‹#›</a:t>
            </a:fld>
            <a:endParaRPr lang="en-US"/>
          </a:p>
        </p:txBody>
      </p:sp>
    </p:spTree>
    <p:extLst>
      <p:ext uri="{BB962C8B-B14F-4D97-AF65-F5344CB8AC3E}">
        <p14:creationId xmlns:p14="http://schemas.microsoft.com/office/powerpoint/2010/main" val="11715005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6A3278-9926-40B0-9828-30EA3C54A7CD}" type="datetimeFigureOut">
              <a:rPr lang="en-US" smtClean="0"/>
              <a:pPr/>
              <a:t>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0B032C-00CB-43EC-A815-6326E09A796D}" type="slidenum">
              <a:rPr lang="en-US" smtClean="0"/>
              <a:pPr/>
              <a:t>‹#›</a:t>
            </a:fld>
            <a:endParaRPr lang="en-US"/>
          </a:p>
        </p:txBody>
      </p:sp>
    </p:spTree>
    <p:extLst>
      <p:ext uri="{BB962C8B-B14F-4D97-AF65-F5344CB8AC3E}">
        <p14:creationId xmlns:p14="http://schemas.microsoft.com/office/powerpoint/2010/main" val="3461697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6A3278-9926-40B0-9828-30EA3C54A7CD}" type="datetimeFigureOut">
              <a:rPr lang="en-US" smtClean="0"/>
              <a:pPr/>
              <a:t>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0B032C-00CB-43EC-A815-6326E09A796D}" type="slidenum">
              <a:rPr lang="en-US" smtClean="0"/>
              <a:pPr/>
              <a:t>‹#›</a:t>
            </a:fld>
            <a:endParaRPr lang="en-US"/>
          </a:p>
        </p:txBody>
      </p:sp>
    </p:spTree>
    <p:extLst>
      <p:ext uri="{BB962C8B-B14F-4D97-AF65-F5344CB8AC3E}">
        <p14:creationId xmlns:p14="http://schemas.microsoft.com/office/powerpoint/2010/main" val="39377902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6A3278-9926-40B0-9828-30EA3C54A7CD}" type="datetimeFigureOut">
              <a:rPr lang="en-US" smtClean="0"/>
              <a:pPr/>
              <a:t>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0B032C-00CB-43EC-A815-6326E09A796D}" type="slidenum">
              <a:rPr lang="en-US" smtClean="0"/>
              <a:pPr/>
              <a:t>‹#›</a:t>
            </a:fld>
            <a:endParaRPr lang="en-US"/>
          </a:p>
        </p:txBody>
      </p:sp>
    </p:spTree>
    <p:extLst>
      <p:ext uri="{BB962C8B-B14F-4D97-AF65-F5344CB8AC3E}">
        <p14:creationId xmlns:p14="http://schemas.microsoft.com/office/powerpoint/2010/main" val="63488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6A3278-9926-40B0-9828-30EA3C54A7CD}" type="datetimeFigureOut">
              <a:rPr lang="en-US" smtClean="0"/>
              <a:pPr/>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0B032C-00CB-43EC-A815-6326E09A796D}" type="slidenum">
              <a:rPr lang="en-US" smtClean="0"/>
              <a:pPr/>
              <a:t>‹#›</a:t>
            </a:fld>
            <a:endParaRPr lang="en-US"/>
          </a:p>
        </p:txBody>
      </p:sp>
    </p:spTree>
    <p:extLst>
      <p:ext uri="{BB962C8B-B14F-4D97-AF65-F5344CB8AC3E}">
        <p14:creationId xmlns:p14="http://schemas.microsoft.com/office/powerpoint/2010/main" val="790243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6A3278-9926-40B0-9828-30EA3C54A7CD}" type="datetimeFigureOut">
              <a:rPr lang="en-US" smtClean="0"/>
              <a:pPr/>
              <a:t>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0B032C-00CB-43EC-A815-6326E09A796D}" type="slidenum">
              <a:rPr lang="en-US" smtClean="0"/>
              <a:pPr/>
              <a:t>‹#›</a:t>
            </a:fld>
            <a:endParaRPr lang="en-US"/>
          </a:p>
        </p:txBody>
      </p:sp>
    </p:spTree>
    <p:extLst>
      <p:ext uri="{BB962C8B-B14F-4D97-AF65-F5344CB8AC3E}">
        <p14:creationId xmlns:p14="http://schemas.microsoft.com/office/powerpoint/2010/main" val="4233350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6A3278-9926-40B0-9828-30EA3C54A7CD}" type="datetimeFigureOut">
              <a:rPr lang="en-US" smtClean="0"/>
              <a:pPr/>
              <a:t>1/9/2025</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0B032C-00CB-43EC-A815-6326E09A796D}" type="slidenum">
              <a:rPr lang="en-US" smtClean="0"/>
              <a:pPr/>
              <a:t>‹#›</a:t>
            </a:fld>
            <a:endParaRPr lang="en-US"/>
          </a:p>
        </p:txBody>
      </p:sp>
    </p:spTree>
    <p:extLst>
      <p:ext uri="{BB962C8B-B14F-4D97-AF65-F5344CB8AC3E}">
        <p14:creationId xmlns:p14="http://schemas.microsoft.com/office/powerpoint/2010/main" val="334169981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3F943C3-B27A-8487-4DB3-C4AED9A4E4E1}"/>
              </a:ext>
            </a:extLst>
          </p:cNvPr>
          <p:cNvSpPr txBox="1"/>
          <p:nvPr/>
        </p:nvSpPr>
        <p:spPr>
          <a:xfrm>
            <a:off x="434567" y="135802"/>
            <a:ext cx="9100457" cy="571951"/>
          </a:xfrm>
          <a:prstGeom prst="rect">
            <a:avLst/>
          </a:prstGeom>
          <a:noFill/>
        </p:spPr>
        <p:txBody>
          <a:bodyPr wrap="square">
            <a:spAutoFit/>
          </a:bodyPr>
          <a:lstStyle/>
          <a:p>
            <a:pPr marL="0" marR="0" algn="ctr">
              <a:spcBef>
                <a:spcPts val="0"/>
              </a:spcBef>
              <a:spcAft>
                <a:spcPts val="800"/>
              </a:spcAft>
            </a:pPr>
            <a:r>
              <a:rPr lang="en-US" sz="1400" b="1" u="sng" dirty="0">
                <a:effectLst/>
                <a:latin typeface="Verdana" panose="020B0604030504040204" pitchFamily="34" charset="0"/>
                <a:ea typeface="Verdana" panose="020B0604030504040204" pitchFamily="34" charset="0"/>
                <a:cs typeface="Vijaya" panose="02020604020202020204" pitchFamily="18" charset="0"/>
              </a:rPr>
              <a:t>90 DAYS CONSTRUCTION WORK EXPERIENCE CERTIFICATE</a:t>
            </a:r>
            <a:endParaRPr lang="en-US" sz="1400" dirty="0">
              <a:effectLst/>
              <a:latin typeface="Verdana" panose="020B0604030504040204" pitchFamily="34" charset="0"/>
              <a:ea typeface="Verdana" panose="020B0604030504040204" pitchFamily="34" charset="0"/>
              <a:cs typeface="Vijaya" panose="02020604020202020204" pitchFamily="18" charset="0"/>
            </a:endParaRPr>
          </a:p>
          <a:p>
            <a:pPr marL="0" marR="0" algn="ctr">
              <a:spcBef>
                <a:spcPts val="0"/>
              </a:spcBef>
              <a:spcAft>
                <a:spcPts val="800"/>
              </a:spcAft>
            </a:pPr>
            <a:r>
              <a:rPr lang="en-US" sz="1050" dirty="0">
                <a:effectLst/>
                <a:latin typeface="Verdana" panose="020B0604030504040204" pitchFamily="34" charset="0"/>
                <a:ea typeface="Verdana" panose="020B0604030504040204" pitchFamily="34" charset="0"/>
                <a:cs typeface="Vijaya" panose="02020604020202020204" pitchFamily="18" charset="0"/>
              </a:rPr>
              <a:t>Proof of having worked for at least 90 days in the </a:t>
            </a:r>
            <a:r>
              <a:rPr lang="en-US" sz="1050" dirty="0">
                <a:latin typeface="Verdana" panose="020B0604030504040204" pitchFamily="34" charset="0"/>
                <a:ea typeface="Verdana" panose="020B0604030504040204" pitchFamily="34" charset="0"/>
                <a:cs typeface="Vijaya" panose="02020604020202020204" pitchFamily="18" charset="0"/>
              </a:rPr>
              <a:t>last 12 months</a:t>
            </a:r>
            <a:endParaRPr lang="en-US" sz="1050" dirty="0">
              <a:effectLst/>
              <a:latin typeface="Verdana" panose="020B0604030504040204" pitchFamily="34" charset="0"/>
              <a:ea typeface="Verdana" panose="020B0604030504040204" pitchFamily="34" charset="0"/>
              <a:cs typeface="Vijaya" panose="02020604020202020204" pitchFamily="18" charset="0"/>
            </a:endParaRPr>
          </a:p>
        </p:txBody>
      </p:sp>
      <p:sp>
        <p:nvSpPr>
          <p:cNvPr id="9" name="TextBox 8">
            <a:extLst>
              <a:ext uri="{FF2B5EF4-FFF2-40B4-BE49-F238E27FC236}">
                <a16:creationId xmlns:a16="http://schemas.microsoft.com/office/drawing/2014/main" id="{5D40F2F6-F762-184C-A6DE-A248EC57E8F4}"/>
              </a:ext>
            </a:extLst>
          </p:cNvPr>
          <p:cNvSpPr txBox="1"/>
          <p:nvPr/>
        </p:nvSpPr>
        <p:spPr>
          <a:xfrm>
            <a:off x="659949" y="593637"/>
            <a:ext cx="8011885" cy="577081"/>
          </a:xfrm>
          <a:prstGeom prst="rect">
            <a:avLst/>
          </a:prstGeom>
          <a:noFill/>
        </p:spPr>
        <p:txBody>
          <a:bodyPr wrap="square">
            <a:spAutoFit/>
          </a:bodyPr>
          <a:lstStyle/>
          <a:p>
            <a:pPr marL="0" marR="0" algn="ctr">
              <a:spcBef>
                <a:spcPts val="0"/>
              </a:spcBef>
            </a:pPr>
            <a:r>
              <a:rPr lang="en-US" sz="1050" i="1" dirty="0">
                <a:latin typeface="Verdana" panose="020B0604030504040204" pitchFamily="34" charset="0"/>
                <a:ea typeface="Verdana" panose="020B0604030504040204" pitchFamily="34" charset="0"/>
              </a:rPr>
              <a:t>(If letter head available, Name of the Issuer, Phone number, Email ID &amp; Address should be mentioned on the Letter Head of Issuer)</a:t>
            </a:r>
          </a:p>
          <a:p>
            <a:pPr marL="0" marR="0" algn="ctr">
              <a:spcBef>
                <a:spcPts val="0"/>
              </a:spcBef>
            </a:pPr>
            <a:r>
              <a:rPr lang="en-US" sz="1050" b="1" dirty="0">
                <a:effectLst/>
                <a:latin typeface="Verdana" panose="020B0604030504040204" pitchFamily="34" charset="0"/>
                <a:ea typeface="Verdana" panose="020B0604030504040204" pitchFamily="34" charset="0"/>
                <a:cs typeface="Vijaya" panose="02020604020202020204" pitchFamily="18" charset="0"/>
              </a:rPr>
              <a:t>Details to be filled in capital letters only.</a:t>
            </a:r>
            <a:endParaRPr lang="en-US" sz="1050" dirty="0">
              <a:latin typeface="Verdana" panose="020B0604030504040204" pitchFamily="34" charset="0"/>
              <a:ea typeface="Verdana" panose="020B0604030504040204" pitchFamily="34" charset="0"/>
            </a:endParaRPr>
          </a:p>
        </p:txBody>
      </p:sp>
      <p:sp>
        <p:nvSpPr>
          <p:cNvPr id="11" name="TextBox 10">
            <a:extLst>
              <a:ext uri="{FF2B5EF4-FFF2-40B4-BE49-F238E27FC236}">
                <a16:creationId xmlns:a16="http://schemas.microsoft.com/office/drawing/2014/main" id="{558860D2-4981-AA0E-970B-28A8889BBFA6}"/>
              </a:ext>
            </a:extLst>
          </p:cNvPr>
          <p:cNvSpPr txBox="1"/>
          <p:nvPr/>
        </p:nvSpPr>
        <p:spPr>
          <a:xfrm>
            <a:off x="241911" y="1178129"/>
            <a:ext cx="7571230" cy="1656864"/>
          </a:xfrm>
          <a:prstGeom prst="rect">
            <a:avLst/>
          </a:prstGeom>
          <a:noFill/>
        </p:spPr>
        <p:txBody>
          <a:bodyPr wrap="square">
            <a:spAutoFit/>
          </a:bodyPr>
          <a:lstStyle/>
          <a:p>
            <a:pPr marL="0" marR="0">
              <a:lnSpc>
                <a:spcPct val="150000"/>
              </a:lnSpc>
              <a:spcBef>
                <a:spcPts val="0"/>
              </a:spcBef>
              <a:spcAft>
                <a:spcPts val="800"/>
              </a:spcAft>
            </a:pPr>
            <a:r>
              <a:rPr lang="en-US" sz="1000" b="1" dirty="0">
                <a:effectLst/>
                <a:latin typeface="Verdana" panose="020B0604030504040204" pitchFamily="34" charset="0"/>
                <a:ea typeface="Verdana" panose="020B0604030504040204" pitchFamily="34" charset="0"/>
                <a:cs typeface="Times New Roman" panose="02020603050405020304" pitchFamily="18" charset="0"/>
              </a:rPr>
              <a:t>This is to certify that Shri/ </a:t>
            </a:r>
            <a:r>
              <a:rPr lang="en-US" sz="1000" b="1" dirty="0" err="1">
                <a:effectLst/>
                <a:latin typeface="Verdana" panose="020B0604030504040204" pitchFamily="34" charset="0"/>
                <a:ea typeface="Verdana" panose="020B0604030504040204" pitchFamily="34" charset="0"/>
                <a:cs typeface="Times New Roman" panose="02020603050405020304" pitchFamily="18" charset="0"/>
              </a:rPr>
              <a:t>Smt</a:t>
            </a:r>
            <a:r>
              <a:rPr lang="en-US" sz="1000" b="1" dirty="0">
                <a:effectLst/>
                <a:latin typeface="Verdana" panose="020B0604030504040204" pitchFamily="34" charset="0"/>
                <a:ea typeface="Verdana" panose="020B0604030504040204" pitchFamily="34" charset="0"/>
                <a:cs typeface="Times New Roman" panose="02020603050405020304" pitchFamily="18" charset="0"/>
              </a:rPr>
              <a:t>…………………………………………………………………………………………</a:t>
            </a:r>
          </a:p>
          <a:p>
            <a:pPr marL="0" marR="0">
              <a:lnSpc>
                <a:spcPct val="150000"/>
              </a:lnSpc>
              <a:spcBef>
                <a:spcPts val="0"/>
              </a:spcBef>
              <a:spcAft>
                <a:spcPts val="800"/>
              </a:spcAft>
            </a:pPr>
            <a:r>
              <a:rPr lang="en-US" sz="1000" b="1" dirty="0">
                <a:effectLst/>
                <a:latin typeface="Verdana" panose="020B0604030504040204" pitchFamily="34" charset="0"/>
                <a:ea typeface="Verdana" panose="020B0604030504040204" pitchFamily="34" charset="0"/>
                <a:cs typeface="Times New Roman" panose="02020603050405020304" pitchFamily="18" charset="0"/>
              </a:rPr>
              <a:t>Son/Daughter/Wife of ………………………………………… ………………Date of Birth………………… ……</a:t>
            </a:r>
          </a:p>
          <a:p>
            <a:pPr marL="0" marR="0">
              <a:lnSpc>
                <a:spcPct val="150000"/>
              </a:lnSpc>
              <a:spcBef>
                <a:spcPts val="0"/>
              </a:spcBef>
              <a:spcAft>
                <a:spcPts val="800"/>
              </a:spcAft>
            </a:pPr>
            <a:r>
              <a:rPr lang="en-US" sz="1000" b="1" dirty="0">
                <a:effectLst/>
                <a:latin typeface="Verdana" panose="020B0604030504040204" pitchFamily="34" charset="0"/>
                <a:ea typeface="Verdana" panose="020B0604030504040204" pitchFamily="34" charset="0"/>
                <a:cs typeface="Times New Roman" panose="02020603050405020304" pitchFamily="18" charset="0"/>
              </a:rPr>
              <a:t>currently residing </a:t>
            </a:r>
            <a:r>
              <a:rPr lang="en-US" sz="1000" b="1" dirty="0">
                <a:latin typeface="Verdana" panose="020B0604030504040204" pitchFamily="34" charset="0"/>
                <a:ea typeface="Verdana" panose="020B0604030504040204" pitchFamily="34" charset="0"/>
                <a:cs typeface="Times New Roman" panose="02020603050405020304" pitchFamily="18" charset="0"/>
              </a:rPr>
              <a:t>at</a:t>
            </a:r>
            <a:r>
              <a:rPr lang="en-US" sz="1000" b="1" dirty="0">
                <a:effectLst/>
                <a:latin typeface="Verdana" panose="020B0604030504040204" pitchFamily="34" charset="0"/>
                <a:ea typeface="Verdana" panose="020B0604030504040204" pitchFamily="34" charset="0"/>
                <a:cs typeface="Times New Roman" panose="02020603050405020304" pitchFamily="18" charset="0"/>
              </a:rPr>
              <a:t> ………………………………………………. .…………..Village/Town/City……………… </a:t>
            </a:r>
          </a:p>
          <a:p>
            <a:pPr marL="0" marR="0">
              <a:lnSpc>
                <a:spcPct val="150000"/>
              </a:lnSpc>
              <a:spcBef>
                <a:spcPts val="0"/>
              </a:spcBef>
              <a:spcAft>
                <a:spcPts val="800"/>
              </a:spcAft>
            </a:pPr>
            <a:r>
              <a:rPr lang="en-US" sz="1000" b="1" dirty="0">
                <a:effectLst/>
                <a:latin typeface="Verdana" panose="020B0604030504040204" pitchFamily="34" charset="0"/>
                <a:ea typeface="Verdana" panose="020B0604030504040204" pitchFamily="34" charset="0"/>
                <a:cs typeface="Times New Roman" panose="02020603050405020304" pitchFamily="18" charset="0"/>
              </a:rPr>
              <a:t>P.O.…………………………… ……P.S………………………..District………………………PIN code………………</a:t>
            </a:r>
          </a:p>
          <a:p>
            <a:pPr marL="0" marR="0">
              <a:lnSpc>
                <a:spcPct val="150000"/>
              </a:lnSpc>
              <a:spcBef>
                <a:spcPts val="0"/>
              </a:spcBef>
              <a:spcAft>
                <a:spcPts val="800"/>
              </a:spcAft>
            </a:pPr>
            <a:r>
              <a:rPr lang="en-US" sz="1000" b="1" dirty="0">
                <a:effectLst/>
                <a:latin typeface="Verdana" panose="020B0604030504040204" pitchFamily="34" charset="0"/>
                <a:ea typeface="Verdana" panose="020B0604030504040204" pitchFamily="34" charset="0"/>
                <a:cs typeface="Times New Roman" panose="02020603050405020304" pitchFamily="18" charset="0"/>
              </a:rPr>
              <a:t>has been working as a &lt;&lt;profession&gt;&gt; ……………………………………………………………………………</a:t>
            </a:r>
            <a:endParaRPr lang="en-US" sz="1000" b="1" dirty="0">
              <a:effectLst/>
              <a:latin typeface="Verdana" panose="020B0604030504040204" pitchFamily="34" charset="0"/>
              <a:ea typeface="Verdana" panose="020B0604030504040204" pitchFamily="34" charset="0"/>
              <a:cs typeface="Vijaya" panose="02020604020202020204" pitchFamily="18" charset="0"/>
            </a:endParaRPr>
          </a:p>
        </p:txBody>
      </p:sp>
      <p:sp>
        <p:nvSpPr>
          <p:cNvPr id="16" name="Rectangle 15">
            <a:extLst>
              <a:ext uri="{FF2B5EF4-FFF2-40B4-BE49-F238E27FC236}">
                <a16:creationId xmlns:a16="http://schemas.microsoft.com/office/drawing/2014/main" id="{05191224-1E38-0ECD-ACE3-534EC3B6C519}"/>
              </a:ext>
            </a:extLst>
          </p:cNvPr>
          <p:cNvSpPr/>
          <p:nvPr/>
        </p:nvSpPr>
        <p:spPr>
          <a:xfrm>
            <a:off x="7998072" y="1476916"/>
            <a:ext cx="1343718" cy="80356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ysClr val="windowText" lastClr="000000"/>
                </a:solidFill>
                <a:effectLst/>
                <a:latin typeface="Verdana" panose="020B0604030504040204" pitchFamily="34" charset="0"/>
                <a:ea typeface="Verdana" panose="020B0604030504040204" pitchFamily="34" charset="0"/>
                <a:cs typeface="Times New Roman" panose="02020603050405020304" pitchFamily="18" charset="0"/>
              </a:rPr>
              <a:t>Passport size photo of the worker cross-signed by </a:t>
            </a:r>
            <a:r>
              <a:rPr lang="en-US" sz="1100" dirty="0">
                <a:solidFill>
                  <a:sysClr val="windowText" lastClr="000000"/>
                </a:solidFill>
                <a:latin typeface="Verdana" panose="020B0604030504040204" pitchFamily="34" charset="0"/>
                <a:ea typeface="Verdana" panose="020B0604030504040204" pitchFamily="34" charset="0"/>
                <a:cs typeface="Times New Roman" panose="02020603050405020304" pitchFamily="18" charset="0"/>
              </a:rPr>
              <a:t>issuer</a:t>
            </a:r>
            <a:endParaRPr lang="en-US" sz="1100" dirty="0">
              <a:solidFill>
                <a:sysClr val="windowText" lastClr="000000"/>
              </a:solidFill>
              <a:effectLst/>
              <a:latin typeface="Verdana" panose="020B0604030504040204" pitchFamily="34" charset="0"/>
              <a:ea typeface="Verdana" panose="020B0604030504040204" pitchFamily="34" charset="0"/>
              <a:cs typeface="Vijaya" panose="02020604020202020204" pitchFamily="18" charset="0"/>
            </a:endParaRPr>
          </a:p>
        </p:txBody>
      </p:sp>
      <p:graphicFrame>
        <p:nvGraphicFramePr>
          <p:cNvPr id="18" name="Table 17">
            <a:extLst>
              <a:ext uri="{FF2B5EF4-FFF2-40B4-BE49-F238E27FC236}">
                <a16:creationId xmlns:a16="http://schemas.microsoft.com/office/drawing/2014/main" id="{1657D73F-A7A9-6BFE-9DCB-7AEC60E56B73}"/>
              </a:ext>
            </a:extLst>
          </p:cNvPr>
          <p:cNvGraphicFramePr>
            <a:graphicFrameLocks noGrp="1"/>
          </p:cNvGraphicFramePr>
          <p:nvPr>
            <p:extLst>
              <p:ext uri="{D42A27DB-BD31-4B8C-83A1-F6EECF244321}">
                <p14:modId xmlns:p14="http://schemas.microsoft.com/office/powerpoint/2010/main" val="4260624761"/>
              </p:ext>
            </p:extLst>
          </p:nvPr>
        </p:nvGraphicFramePr>
        <p:xfrm>
          <a:off x="241912" y="2902682"/>
          <a:ext cx="9471070" cy="2093768"/>
        </p:xfrm>
        <a:graphic>
          <a:graphicData uri="http://schemas.openxmlformats.org/drawingml/2006/table">
            <a:tbl>
              <a:tblPr firstRow="1" firstCol="1" bandRow="1">
                <a:tableStyleId>{5940675A-B579-460E-94D1-54222C63F5DA}</a:tableStyleId>
              </a:tblPr>
              <a:tblGrid>
                <a:gridCol w="1040728">
                  <a:extLst>
                    <a:ext uri="{9D8B030D-6E8A-4147-A177-3AD203B41FA5}">
                      <a16:colId xmlns:a16="http://schemas.microsoft.com/office/drawing/2014/main" val="2647649214"/>
                    </a:ext>
                  </a:extLst>
                </a:gridCol>
                <a:gridCol w="913724">
                  <a:extLst>
                    <a:ext uri="{9D8B030D-6E8A-4147-A177-3AD203B41FA5}">
                      <a16:colId xmlns:a16="http://schemas.microsoft.com/office/drawing/2014/main" val="3275802866"/>
                    </a:ext>
                  </a:extLst>
                </a:gridCol>
                <a:gridCol w="923908">
                  <a:extLst>
                    <a:ext uri="{9D8B030D-6E8A-4147-A177-3AD203B41FA5}">
                      <a16:colId xmlns:a16="http://schemas.microsoft.com/office/drawing/2014/main" val="3244469516"/>
                    </a:ext>
                  </a:extLst>
                </a:gridCol>
                <a:gridCol w="2084052">
                  <a:extLst>
                    <a:ext uri="{9D8B030D-6E8A-4147-A177-3AD203B41FA5}">
                      <a16:colId xmlns:a16="http://schemas.microsoft.com/office/drawing/2014/main" val="2327977599"/>
                    </a:ext>
                  </a:extLst>
                </a:gridCol>
                <a:gridCol w="1945954">
                  <a:extLst>
                    <a:ext uri="{9D8B030D-6E8A-4147-A177-3AD203B41FA5}">
                      <a16:colId xmlns:a16="http://schemas.microsoft.com/office/drawing/2014/main" val="2014513314"/>
                    </a:ext>
                  </a:extLst>
                </a:gridCol>
                <a:gridCol w="2562704">
                  <a:extLst>
                    <a:ext uri="{9D8B030D-6E8A-4147-A177-3AD203B41FA5}">
                      <a16:colId xmlns:a16="http://schemas.microsoft.com/office/drawing/2014/main" val="1745609173"/>
                    </a:ext>
                  </a:extLst>
                </a:gridCol>
              </a:tblGrid>
              <a:tr h="531623">
                <a:tc>
                  <a:txBody>
                    <a:bodyPr/>
                    <a:lstStyle/>
                    <a:p>
                      <a:pPr marL="0" marR="0" algn="ctr">
                        <a:lnSpc>
                          <a:spcPct val="107000"/>
                        </a:lnSpc>
                        <a:spcBef>
                          <a:spcPts val="0"/>
                        </a:spcBef>
                        <a:spcAft>
                          <a:spcPts val="0"/>
                        </a:spcAft>
                      </a:pPr>
                      <a:r>
                        <a:rPr lang="en-US" sz="1000" b="1" dirty="0">
                          <a:effectLst/>
                          <a:latin typeface="Verdana" panose="020B0604030504040204" pitchFamily="34" charset="0"/>
                          <a:ea typeface="Verdana" panose="020B0604030504040204" pitchFamily="34" charset="0"/>
                        </a:rPr>
                        <a:t>From Date</a:t>
                      </a:r>
                      <a:endParaRPr lang="en-US" sz="1000" b="1" dirty="0">
                        <a:effectLst/>
                        <a:latin typeface="Verdana" panose="020B0604030504040204" pitchFamily="34" charset="0"/>
                        <a:ea typeface="Verdana" panose="020B0604030504040204" pitchFamily="34" charset="0"/>
                        <a:cs typeface="Vijaya" panose="020206040202020202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000" b="1" dirty="0">
                          <a:effectLst/>
                          <a:latin typeface="Verdana" panose="020B0604030504040204" pitchFamily="34" charset="0"/>
                          <a:ea typeface="Verdana" panose="020B0604030504040204" pitchFamily="34" charset="0"/>
                        </a:rPr>
                        <a:t>To Date</a:t>
                      </a:r>
                      <a:endParaRPr lang="en-US" sz="1000" b="1" dirty="0">
                        <a:effectLst/>
                        <a:latin typeface="Verdana" panose="020B0604030504040204" pitchFamily="34" charset="0"/>
                        <a:ea typeface="Verdana" panose="020B0604030504040204" pitchFamily="34" charset="0"/>
                        <a:cs typeface="Vijaya" panose="020206040202020202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000" b="1" dirty="0">
                          <a:effectLst/>
                          <a:latin typeface="Verdana" panose="020B0604030504040204" pitchFamily="34" charset="0"/>
                          <a:ea typeface="Verdana" panose="020B0604030504040204" pitchFamily="34" charset="0"/>
                        </a:rPr>
                        <a:t>Actual days worked</a:t>
                      </a:r>
                      <a:endParaRPr lang="en-US" sz="1000" b="1" dirty="0">
                        <a:effectLst/>
                        <a:latin typeface="Verdana" panose="020B0604030504040204" pitchFamily="34" charset="0"/>
                        <a:ea typeface="Verdana" panose="020B0604030504040204" pitchFamily="34" charset="0"/>
                        <a:cs typeface="Vijaya" panose="0202060402020202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900" b="1" dirty="0">
                          <a:effectLst/>
                          <a:latin typeface="Verdana" panose="020B0604030504040204" pitchFamily="34" charset="0"/>
                          <a:ea typeface="Verdana" panose="020B0604030504040204" pitchFamily="34" charset="0"/>
                        </a:rPr>
                        <a:t>Project Work- Name/Details</a:t>
                      </a:r>
                      <a:endParaRPr lang="en-US" sz="900" b="1" dirty="0">
                        <a:effectLst/>
                        <a:latin typeface="Verdana" panose="020B0604030504040204" pitchFamily="34" charset="0"/>
                        <a:ea typeface="Verdana" panose="020B0604030504040204" pitchFamily="34" charset="0"/>
                        <a:cs typeface="Vijaya" panose="0202060402020202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900" b="1" dirty="0">
                          <a:effectLst/>
                          <a:latin typeface="Verdana" panose="020B0604030504040204" pitchFamily="34" charset="0"/>
                          <a:ea typeface="Verdana" panose="020B0604030504040204" pitchFamily="34" charset="0"/>
                          <a:cs typeface="Vijaya" panose="02020604020202020204" pitchFamily="18" charset="0"/>
                        </a:rPr>
                        <a:t>Type of Work</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000" b="1" dirty="0">
                          <a:effectLst/>
                          <a:latin typeface="Verdana" panose="020B0604030504040204" pitchFamily="34" charset="0"/>
                          <a:ea typeface="Verdana" panose="020B0604030504040204" pitchFamily="34" charset="0"/>
                        </a:rPr>
                        <a:t>Project site  full</a:t>
                      </a:r>
                      <a:r>
                        <a:rPr lang="en-US" sz="1000" b="1" baseline="0" dirty="0">
                          <a:effectLst/>
                          <a:latin typeface="Verdana" panose="020B0604030504040204" pitchFamily="34" charset="0"/>
                          <a:ea typeface="Verdana" panose="020B0604030504040204" pitchFamily="34" charset="0"/>
                        </a:rPr>
                        <a:t> </a:t>
                      </a:r>
                      <a:r>
                        <a:rPr lang="en-US" sz="1000" b="1" dirty="0">
                          <a:effectLst/>
                          <a:latin typeface="Verdana" panose="020B0604030504040204" pitchFamily="34" charset="0"/>
                          <a:ea typeface="Verdana" panose="020B0604030504040204" pitchFamily="34" charset="0"/>
                        </a:rPr>
                        <a:t>address </a:t>
                      </a:r>
                    </a:p>
                    <a:p>
                      <a:pPr marL="0" marR="0" algn="ctr">
                        <a:lnSpc>
                          <a:spcPct val="107000"/>
                        </a:lnSpc>
                        <a:spcBef>
                          <a:spcPts val="0"/>
                        </a:spcBef>
                        <a:spcAft>
                          <a:spcPts val="0"/>
                        </a:spcAft>
                      </a:pPr>
                      <a:r>
                        <a:rPr lang="en-US" sz="1000" b="1" dirty="0">
                          <a:effectLst/>
                          <a:latin typeface="Verdana" panose="020B0604030504040204" pitchFamily="34" charset="0"/>
                          <a:ea typeface="Verdana" panose="020B0604030504040204" pitchFamily="34" charset="0"/>
                        </a:rPr>
                        <a:t>with pin code</a:t>
                      </a:r>
                      <a:endParaRPr lang="en-US" sz="1000" b="1" dirty="0">
                        <a:effectLst/>
                        <a:latin typeface="Verdana" panose="020B0604030504040204" pitchFamily="34" charset="0"/>
                        <a:ea typeface="Verdana" panose="020B0604030504040204" pitchFamily="34" charset="0"/>
                        <a:cs typeface="Vijaya" panose="0202060402020202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4033231"/>
                  </a:ext>
                </a:extLst>
              </a:tr>
              <a:tr h="807225">
                <a:tc>
                  <a:txBody>
                    <a:bodyPr/>
                    <a:lstStyle/>
                    <a:p>
                      <a:pPr marL="0" marR="0">
                        <a:lnSpc>
                          <a:spcPct val="107000"/>
                        </a:lnSpc>
                        <a:spcBef>
                          <a:spcPts val="0"/>
                        </a:spcBef>
                        <a:spcAft>
                          <a:spcPts val="0"/>
                        </a:spcAft>
                      </a:pPr>
                      <a:r>
                        <a:rPr lang="en-US" sz="1000" dirty="0">
                          <a:effectLst/>
                          <a:latin typeface="Verdana" panose="020B0604030504040204" pitchFamily="34" charset="0"/>
                          <a:ea typeface="Verdana" panose="020B0604030504040204" pitchFamily="34" charset="0"/>
                        </a:rPr>
                        <a:t> </a:t>
                      </a:r>
                      <a:endParaRPr lang="en-US" sz="1000" dirty="0">
                        <a:effectLst/>
                        <a:latin typeface="Verdana" panose="020B0604030504040204" pitchFamily="34" charset="0"/>
                        <a:ea typeface="Verdana" panose="020B0604030504040204" pitchFamily="34" charset="0"/>
                        <a:cs typeface="Vijaya" panose="020206040202020202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000" dirty="0">
                          <a:effectLst/>
                          <a:latin typeface="Verdana" panose="020B0604030504040204" pitchFamily="34" charset="0"/>
                          <a:ea typeface="Verdana" panose="020B0604030504040204" pitchFamily="34" charset="0"/>
                        </a:rPr>
                        <a:t> </a:t>
                      </a:r>
                      <a:endParaRPr lang="en-US" sz="1000" dirty="0">
                        <a:effectLst/>
                        <a:latin typeface="Verdana" panose="020B0604030504040204" pitchFamily="34" charset="0"/>
                        <a:ea typeface="Verdana" panose="020B0604030504040204" pitchFamily="34" charset="0"/>
                        <a:cs typeface="Vijaya" panose="020206040202020202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000" dirty="0">
                          <a:effectLst/>
                          <a:latin typeface="Verdana" panose="020B0604030504040204" pitchFamily="34" charset="0"/>
                          <a:ea typeface="Verdana" panose="020B0604030504040204" pitchFamily="34" charset="0"/>
                        </a:rPr>
                        <a:t> </a:t>
                      </a:r>
                      <a:endParaRPr lang="en-US" sz="1000" dirty="0">
                        <a:effectLst/>
                        <a:latin typeface="Verdana" panose="020B0604030504040204" pitchFamily="34" charset="0"/>
                        <a:ea typeface="Verdana" panose="020B0604030504040204" pitchFamily="34" charset="0"/>
                        <a:cs typeface="Vijaya" panose="020206040202020202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000" dirty="0">
                          <a:effectLst/>
                          <a:latin typeface="Verdana" panose="020B0604030504040204" pitchFamily="34" charset="0"/>
                          <a:ea typeface="Verdana" panose="020B0604030504040204" pitchFamily="34" charset="0"/>
                        </a:rPr>
                        <a:t> </a:t>
                      </a:r>
                    </a:p>
                    <a:p>
                      <a:pPr marL="0" marR="0">
                        <a:lnSpc>
                          <a:spcPct val="107000"/>
                        </a:lnSpc>
                        <a:spcBef>
                          <a:spcPts val="0"/>
                        </a:spcBef>
                        <a:spcAft>
                          <a:spcPts val="0"/>
                        </a:spcAft>
                      </a:pPr>
                      <a:endParaRPr lang="en-US" sz="1000" dirty="0">
                        <a:effectLst/>
                        <a:latin typeface="Verdana" panose="020B0604030504040204" pitchFamily="34" charset="0"/>
                        <a:ea typeface="Verdana" panose="020B0604030504040204" pitchFamily="34" charset="0"/>
                        <a:cs typeface="Vijaya" panose="02020604020202020204" pitchFamily="18" charset="0"/>
                      </a:endParaRPr>
                    </a:p>
                    <a:p>
                      <a:pPr marL="0" marR="0">
                        <a:lnSpc>
                          <a:spcPct val="107000"/>
                        </a:lnSpc>
                        <a:spcBef>
                          <a:spcPts val="0"/>
                        </a:spcBef>
                        <a:spcAft>
                          <a:spcPts val="0"/>
                        </a:spcAft>
                      </a:pPr>
                      <a:endParaRPr lang="en-US" sz="1000" dirty="0">
                        <a:effectLst/>
                        <a:latin typeface="Verdana" panose="020B0604030504040204" pitchFamily="34" charset="0"/>
                        <a:ea typeface="Verdana" panose="020B0604030504040204" pitchFamily="34" charset="0"/>
                        <a:cs typeface="Vijaya" panose="020206040202020202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nSpc>
                          <a:spcPct val="107000"/>
                        </a:lnSpc>
                        <a:spcBef>
                          <a:spcPts val="0"/>
                        </a:spcBef>
                        <a:spcAft>
                          <a:spcPts val="0"/>
                        </a:spcAft>
                        <a:buFont typeface="Arial" panose="020B0604020202020204" pitchFamily="34" charset="0"/>
                        <a:buNone/>
                      </a:pPr>
                      <a:endParaRPr lang="en-US" sz="1000" dirty="0">
                        <a:effectLst/>
                        <a:latin typeface="Verdana" panose="020B0604030504040204" pitchFamily="34" charset="0"/>
                        <a:ea typeface="Verdana" panose="020B0604030504040204" pitchFamily="34" charset="0"/>
                        <a:cs typeface="Vijaya" panose="020206040202020202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000" dirty="0">
                          <a:effectLst/>
                          <a:latin typeface="Verdana" panose="020B0604030504040204" pitchFamily="34" charset="0"/>
                          <a:ea typeface="Verdana" panose="020B0604030504040204" pitchFamily="34" charset="0"/>
                        </a:rPr>
                        <a:t> </a:t>
                      </a:r>
                    </a:p>
                    <a:p>
                      <a:pPr marL="0" marR="0">
                        <a:lnSpc>
                          <a:spcPct val="107000"/>
                        </a:lnSpc>
                        <a:spcBef>
                          <a:spcPts val="0"/>
                        </a:spcBef>
                        <a:spcAft>
                          <a:spcPts val="0"/>
                        </a:spcAft>
                      </a:pPr>
                      <a:endParaRPr lang="en-US" sz="1000" dirty="0">
                        <a:effectLst/>
                        <a:latin typeface="Verdana" panose="020B0604030504040204" pitchFamily="34" charset="0"/>
                        <a:ea typeface="Verdana" panose="020B0604030504040204" pitchFamily="34" charset="0"/>
                        <a:cs typeface="Vijaya" panose="02020604020202020204" pitchFamily="18" charset="0"/>
                      </a:endParaRPr>
                    </a:p>
                    <a:p>
                      <a:pPr marL="0" marR="0">
                        <a:lnSpc>
                          <a:spcPct val="107000"/>
                        </a:lnSpc>
                        <a:spcBef>
                          <a:spcPts val="0"/>
                        </a:spcBef>
                        <a:spcAft>
                          <a:spcPts val="0"/>
                        </a:spcAft>
                      </a:pPr>
                      <a:endParaRPr lang="en-US" sz="1000" dirty="0">
                        <a:effectLst/>
                        <a:latin typeface="Verdana" panose="020B0604030504040204" pitchFamily="34" charset="0"/>
                        <a:ea typeface="Verdana" panose="020B0604030504040204" pitchFamily="34" charset="0"/>
                        <a:cs typeface="Vijaya" panose="02020604020202020204" pitchFamily="18" charset="0"/>
                      </a:endParaRPr>
                    </a:p>
                    <a:p>
                      <a:pPr marL="0" marR="0">
                        <a:lnSpc>
                          <a:spcPct val="107000"/>
                        </a:lnSpc>
                        <a:spcBef>
                          <a:spcPts val="0"/>
                        </a:spcBef>
                        <a:spcAft>
                          <a:spcPts val="0"/>
                        </a:spcAft>
                      </a:pPr>
                      <a:endParaRPr lang="en-US" sz="1000" dirty="0">
                        <a:effectLst/>
                        <a:latin typeface="Verdana" panose="020B0604030504040204" pitchFamily="34" charset="0"/>
                        <a:ea typeface="Verdana" panose="020B0604030504040204" pitchFamily="34" charset="0"/>
                        <a:cs typeface="Vijaya" panose="020206040202020202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8194064"/>
                  </a:ext>
                </a:extLst>
              </a:tr>
              <a:tr h="405884">
                <a:tc gridSpan="2">
                  <a:txBody>
                    <a:bodyPr/>
                    <a:lstStyle/>
                    <a:p>
                      <a:pPr marL="0" marR="0" algn="l">
                        <a:lnSpc>
                          <a:spcPct val="107000"/>
                        </a:lnSpc>
                        <a:spcBef>
                          <a:spcPts val="0"/>
                        </a:spcBef>
                        <a:spcAft>
                          <a:spcPts val="0"/>
                        </a:spcAft>
                      </a:pPr>
                      <a:r>
                        <a:rPr lang="en-US" sz="1000" b="1" dirty="0">
                          <a:effectLst/>
                          <a:latin typeface="Verdana" panose="020B0604030504040204" pitchFamily="34" charset="0"/>
                          <a:ea typeface="Verdana" panose="020B0604030504040204" pitchFamily="34" charset="0"/>
                        </a:rPr>
                        <a:t>Full Name and Contact number of Employer</a:t>
                      </a:r>
                      <a:endParaRPr lang="en-US" sz="1000" b="1" dirty="0">
                        <a:effectLst/>
                        <a:latin typeface="Verdana" panose="020B0604030504040204" pitchFamily="34" charset="0"/>
                        <a:ea typeface="Verdana" panose="020B0604030504040204" pitchFamily="34" charset="0"/>
                        <a:cs typeface="Vijaya" panose="020206040202020202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4">
                  <a:txBody>
                    <a:bodyPr/>
                    <a:lstStyle/>
                    <a:p>
                      <a:pPr marL="0" marR="0">
                        <a:lnSpc>
                          <a:spcPct val="107000"/>
                        </a:lnSpc>
                        <a:spcBef>
                          <a:spcPts val="0"/>
                        </a:spcBef>
                        <a:spcAft>
                          <a:spcPts val="0"/>
                        </a:spcAft>
                      </a:pPr>
                      <a:r>
                        <a:rPr lang="en-US" sz="1000" dirty="0">
                          <a:effectLst/>
                          <a:latin typeface="Verdana" panose="020B0604030504040204" pitchFamily="34" charset="0"/>
                          <a:ea typeface="Verdana" panose="020B0604030504040204" pitchFamily="34" charset="0"/>
                        </a:rPr>
                        <a:t> </a:t>
                      </a:r>
                      <a:endParaRPr lang="en-US" sz="1000" dirty="0">
                        <a:effectLst/>
                        <a:latin typeface="Verdana" panose="020B0604030504040204" pitchFamily="34" charset="0"/>
                        <a:ea typeface="Verdana" panose="020B0604030504040204" pitchFamily="34" charset="0"/>
                        <a:cs typeface="Vijaya" panose="020206040202020202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a:lnSpc>
                          <a:spcPct val="107000"/>
                        </a:lnSpc>
                        <a:spcBef>
                          <a:spcPts val="0"/>
                        </a:spcBef>
                        <a:spcAft>
                          <a:spcPts val="0"/>
                        </a:spcAft>
                      </a:pPr>
                      <a:endParaRPr lang="en-US" sz="1000" dirty="0">
                        <a:effectLst/>
                        <a:latin typeface="Verdana" panose="020B0604030504040204" pitchFamily="34" charset="0"/>
                        <a:ea typeface="Verdana" panose="020B0604030504040204" pitchFamily="34" charset="0"/>
                        <a:cs typeface="Vijaya" panose="020206040202020202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973310979"/>
                  </a:ext>
                </a:extLst>
              </a:tr>
              <a:tr h="349036">
                <a:tc gridSpan="2">
                  <a:txBody>
                    <a:bodyPr/>
                    <a:lstStyle/>
                    <a:p>
                      <a:pPr marL="0" marR="0" algn="l">
                        <a:lnSpc>
                          <a:spcPct val="107000"/>
                        </a:lnSpc>
                        <a:spcBef>
                          <a:spcPts val="0"/>
                        </a:spcBef>
                        <a:spcAft>
                          <a:spcPts val="0"/>
                        </a:spcAft>
                      </a:pPr>
                      <a:r>
                        <a:rPr lang="en-US" sz="1000" b="1" dirty="0">
                          <a:effectLst/>
                          <a:latin typeface="Verdana" panose="020B0604030504040204" pitchFamily="34" charset="0"/>
                          <a:ea typeface="Verdana" panose="020B0604030504040204" pitchFamily="34" charset="0"/>
                          <a:cs typeface="Vijaya" panose="02020604020202020204" pitchFamily="18" charset="0"/>
                        </a:rPr>
                        <a:t>Full Address of Employer</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4">
                  <a:txBody>
                    <a:bodyPr/>
                    <a:lstStyle/>
                    <a:p>
                      <a:endParaRPr lang="en-US" dirty="0"/>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a:lnSpc>
                          <a:spcPct val="107000"/>
                        </a:lnSpc>
                        <a:spcBef>
                          <a:spcPts val="0"/>
                        </a:spcBef>
                        <a:spcAft>
                          <a:spcPts val="0"/>
                        </a:spcAft>
                      </a:pPr>
                      <a:endParaRPr lang="en-US" sz="1000" dirty="0">
                        <a:effectLst/>
                        <a:latin typeface="Verdana" panose="020B0604030504040204" pitchFamily="34" charset="0"/>
                        <a:ea typeface="Verdana" panose="020B0604030504040204" pitchFamily="34" charset="0"/>
                        <a:cs typeface="Vijaya" panose="020206040202020202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715691501"/>
                  </a:ext>
                </a:extLst>
              </a:tr>
            </a:tbl>
          </a:graphicData>
        </a:graphic>
      </p:graphicFrame>
      <p:sp>
        <p:nvSpPr>
          <p:cNvPr id="26" name="Rectangle 25">
            <a:extLst>
              <a:ext uri="{FF2B5EF4-FFF2-40B4-BE49-F238E27FC236}">
                <a16:creationId xmlns:a16="http://schemas.microsoft.com/office/drawing/2014/main" id="{D101143E-0189-9995-7E44-390767C4EA9A}"/>
              </a:ext>
            </a:extLst>
          </p:cNvPr>
          <p:cNvSpPr/>
          <p:nvPr/>
        </p:nvSpPr>
        <p:spPr>
          <a:xfrm>
            <a:off x="277203" y="4860137"/>
            <a:ext cx="3964223" cy="819734"/>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en-US" sz="1050" b="1" i="1" dirty="0">
              <a:solidFill>
                <a:sysClr val="windowText" lastClr="000000"/>
              </a:solidFill>
              <a:effectLst/>
              <a:latin typeface="Verdana" panose="020B0604030504040204" pitchFamily="34" charset="0"/>
              <a:ea typeface="Verdana" panose="020B0604030504040204" pitchFamily="34" charset="0"/>
              <a:cs typeface="Times New Roman" panose="02020603050405020304" pitchFamily="18" charset="0"/>
            </a:endParaRPr>
          </a:p>
          <a:p>
            <a:pPr>
              <a:lnSpc>
                <a:spcPct val="150000"/>
              </a:lnSpc>
            </a:pPr>
            <a:r>
              <a:rPr lang="en-US" sz="1050" b="1" i="1" dirty="0">
                <a:solidFill>
                  <a:sysClr val="windowText" lastClr="000000"/>
                </a:solidFill>
                <a:effectLst/>
                <a:latin typeface="Verdana" panose="020B0604030504040204" pitchFamily="34" charset="0"/>
                <a:ea typeface="Verdana" panose="020B0604030504040204" pitchFamily="34" charset="0"/>
                <a:cs typeface="Times New Roman" panose="02020603050405020304" pitchFamily="18" charset="0"/>
              </a:rPr>
              <a:t>……………………………………………………………..</a:t>
            </a:r>
          </a:p>
          <a:p>
            <a:r>
              <a:rPr lang="en-US" sz="1050" b="1" i="1" dirty="0">
                <a:solidFill>
                  <a:sysClr val="windowText" lastClr="000000"/>
                </a:solidFill>
                <a:latin typeface="Verdana" panose="020B0604030504040204" pitchFamily="34" charset="0"/>
                <a:ea typeface="Verdana" panose="020B0604030504040204" pitchFamily="34" charset="0"/>
                <a:cs typeface="Times New Roman" panose="02020603050405020304" pitchFamily="18" charset="0"/>
              </a:rPr>
              <a:t>Signature/Thumbprints of the worker</a:t>
            </a:r>
          </a:p>
        </p:txBody>
      </p:sp>
      <p:sp>
        <p:nvSpPr>
          <p:cNvPr id="28" name="Rectangle 27">
            <a:extLst>
              <a:ext uri="{FF2B5EF4-FFF2-40B4-BE49-F238E27FC236}">
                <a16:creationId xmlns:a16="http://schemas.microsoft.com/office/drawing/2014/main" id="{A40CE993-77DD-E6BE-0193-BC1030F0165D}"/>
              </a:ext>
            </a:extLst>
          </p:cNvPr>
          <p:cNvSpPr/>
          <p:nvPr/>
        </p:nvSpPr>
        <p:spPr>
          <a:xfrm>
            <a:off x="6235075" y="5050554"/>
            <a:ext cx="3477907" cy="819734"/>
          </a:xfrm>
          <a:prstGeom prst="rect">
            <a:avLst/>
          </a:prstGeom>
          <a:noFill/>
          <a:ln>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gn="r">
              <a:lnSpc>
                <a:spcPct val="107000"/>
              </a:lnSpc>
              <a:spcBef>
                <a:spcPts val="0"/>
              </a:spcBef>
              <a:spcAft>
                <a:spcPts val="0"/>
              </a:spcAft>
            </a:pPr>
            <a:r>
              <a:rPr lang="en-US" sz="1050" b="1" i="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a:t>
            </a:r>
          </a:p>
          <a:p>
            <a:pPr marL="0" marR="0" algn="r">
              <a:lnSpc>
                <a:spcPct val="107000"/>
              </a:lnSpc>
              <a:spcBef>
                <a:spcPts val="0"/>
              </a:spcBef>
              <a:spcAft>
                <a:spcPts val="0"/>
              </a:spcAft>
            </a:pPr>
            <a:r>
              <a:rPr lang="en-US" sz="1050" b="1" i="1"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Signature &amp; Seal of the Issuer / Employer</a:t>
            </a:r>
          </a:p>
        </p:txBody>
      </p:sp>
      <p:sp>
        <p:nvSpPr>
          <p:cNvPr id="30" name="TextBox 29">
            <a:extLst>
              <a:ext uri="{FF2B5EF4-FFF2-40B4-BE49-F238E27FC236}">
                <a16:creationId xmlns:a16="http://schemas.microsoft.com/office/drawing/2014/main" id="{02B6BF3D-CE86-51BA-B37E-A8780CC92B8B}"/>
              </a:ext>
            </a:extLst>
          </p:cNvPr>
          <p:cNvSpPr txBox="1"/>
          <p:nvPr/>
        </p:nvSpPr>
        <p:spPr>
          <a:xfrm>
            <a:off x="413791" y="5690730"/>
            <a:ext cx="5788973" cy="1070934"/>
          </a:xfrm>
          <a:prstGeom prst="rect">
            <a:avLst/>
          </a:prstGeom>
          <a:noFill/>
          <a:ln>
            <a:solidFill>
              <a:schemeClr val="tx1"/>
            </a:solidFill>
            <a:prstDash val="dash"/>
          </a:ln>
        </p:spPr>
        <p:txBody>
          <a:bodyPr wrap="square" rtlCol="0">
            <a:spAutoFit/>
          </a:bodyPr>
          <a:lstStyle/>
          <a:p>
            <a:pPr marL="171450" marR="0" indent="-171450" algn="just">
              <a:lnSpc>
                <a:spcPct val="107000"/>
              </a:lnSpc>
              <a:spcBef>
                <a:spcPts val="0"/>
              </a:spcBef>
              <a:spcAft>
                <a:spcPts val="800"/>
              </a:spcAft>
            </a:pPr>
            <a:r>
              <a:rPr lang="en-US" sz="900" b="1" i="1" dirty="0">
                <a:latin typeface="Verdana" panose="020B0604030504040204" pitchFamily="34" charset="0"/>
                <a:ea typeface="Verdana" panose="020B0604030504040204" pitchFamily="34" charset="0"/>
                <a:cs typeface="Vijaya" panose="02020604020202020204" pitchFamily="18" charset="0"/>
              </a:rPr>
              <a:t>Disclaimer: </a:t>
            </a:r>
            <a:r>
              <a:rPr lang="en-US" sz="900" i="1" dirty="0">
                <a:latin typeface="Verdana" panose="020B0604030504040204" pitchFamily="34" charset="0"/>
                <a:ea typeface="Verdana" panose="020B0604030504040204" pitchFamily="34" charset="0"/>
                <a:cs typeface="Vijaya" panose="02020604020202020204" pitchFamily="18" charset="0"/>
              </a:rPr>
              <a:t>If any of the information furnished above is found to be incorrect during verification, the membership of the worker shall be immediately cancelled, and the issuer of the certificate shall be strictly held responsible and appropriate legal actions may be taken by the ABOCWW Board.</a:t>
            </a:r>
          </a:p>
          <a:p>
            <a:pPr marL="171450" marR="0" indent="-171450" algn="just">
              <a:lnSpc>
                <a:spcPct val="107000"/>
              </a:lnSpc>
              <a:spcBef>
                <a:spcPts val="0"/>
              </a:spcBef>
              <a:spcAft>
                <a:spcPts val="800"/>
              </a:spcAft>
            </a:pPr>
            <a:r>
              <a:rPr lang="en-US" sz="900" b="1" i="1" dirty="0">
                <a:latin typeface="Verdana" panose="020B0604030504040204" pitchFamily="34" charset="0"/>
                <a:ea typeface="Verdana" panose="020B0604030504040204" pitchFamily="34" charset="0"/>
                <a:cs typeface="Vijaya" panose="02020604020202020204" pitchFamily="18" charset="0"/>
              </a:rPr>
              <a:t>N.B. </a:t>
            </a:r>
            <a:r>
              <a:rPr lang="en-US" sz="900" i="1" dirty="0">
                <a:latin typeface="Verdana" panose="020B0604030504040204" pitchFamily="34" charset="0"/>
                <a:ea typeface="Verdana" panose="020B0604030504040204" pitchFamily="34" charset="0"/>
                <a:cs typeface="Vijaya" panose="02020604020202020204" pitchFamily="18" charset="0"/>
              </a:rPr>
              <a:t>Registering Officer shall follow the guidelines (Annexure-I) and verify the experience certificate for its completeness, genuineness, and accuracy, etc. </a:t>
            </a:r>
            <a:endParaRPr lang="en-US" sz="900" b="1" i="1" u="sng" dirty="0">
              <a:latin typeface="Verdana" panose="020B0604030504040204" pitchFamily="34" charset="0"/>
              <a:ea typeface="Verdana" panose="020B0604030504040204" pitchFamily="34" charset="0"/>
              <a:cs typeface="Vijaya" panose="02020604020202020204" pitchFamily="18" charset="0"/>
            </a:endParaRPr>
          </a:p>
        </p:txBody>
      </p:sp>
      <p:sp>
        <p:nvSpPr>
          <p:cNvPr id="42" name="TextBox 41">
            <a:extLst>
              <a:ext uri="{FF2B5EF4-FFF2-40B4-BE49-F238E27FC236}">
                <a16:creationId xmlns:a16="http://schemas.microsoft.com/office/drawing/2014/main" id="{2E2C86DA-774E-05AA-88D7-625D6C5B8601}"/>
              </a:ext>
            </a:extLst>
          </p:cNvPr>
          <p:cNvSpPr txBox="1"/>
          <p:nvPr/>
        </p:nvSpPr>
        <p:spPr>
          <a:xfrm>
            <a:off x="6269433" y="5832820"/>
            <a:ext cx="3443549" cy="786754"/>
          </a:xfrm>
          <a:prstGeom prst="rect">
            <a:avLst/>
          </a:prstGeom>
          <a:noFill/>
        </p:spPr>
        <p:txBody>
          <a:bodyPr wrap="square">
            <a:spAutoFit/>
          </a:bodyPr>
          <a:lstStyle/>
          <a:p>
            <a:pPr>
              <a:lnSpc>
                <a:spcPct val="150000"/>
              </a:lnSpc>
            </a:pPr>
            <a:r>
              <a:rPr lang="en-US" sz="1050" i="1" dirty="0">
                <a:latin typeface="Verdana" panose="020B0604030504040204" pitchFamily="34" charset="0"/>
                <a:ea typeface="Verdana" panose="020B0604030504040204" pitchFamily="34" charset="0"/>
              </a:rPr>
              <a:t>    Full Name ………………………………………….……</a:t>
            </a:r>
          </a:p>
          <a:p>
            <a:pPr>
              <a:lnSpc>
                <a:spcPct val="150000"/>
              </a:lnSpc>
            </a:pPr>
            <a:r>
              <a:rPr lang="en-US" sz="1050" i="1" dirty="0">
                <a:latin typeface="Verdana" panose="020B0604030504040204" pitchFamily="34" charset="0"/>
                <a:ea typeface="Verdana" panose="020B0604030504040204" pitchFamily="34" charset="0"/>
              </a:rPr>
              <a:t>    Designation ……………………………………………</a:t>
            </a:r>
          </a:p>
          <a:p>
            <a:pPr>
              <a:lnSpc>
                <a:spcPct val="150000"/>
              </a:lnSpc>
            </a:pPr>
            <a:r>
              <a:rPr lang="en-US" sz="1050" i="1" dirty="0">
                <a:latin typeface="Verdana" panose="020B0604030504040204" pitchFamily="34" charset="0"/>
                <a:ea typeface="Verdana" panose="020B0604030504040204" pitchFamily="34" charset="0"/>
              </a:rPr>
              <a:t>    Contact number …………………………………….</a:t>
            </a:r>
          </a:p>
        </p:txBody>
      </p:sp>
      <p:sp>
        <p:nvSpPr>
          <p:cNvPr id="14" name="TextBox 13">
            <a:extLst>
              <a:ext uri="{FF2B5EF4-FFF2-40B4-BE49-F238E27FC236}">
                <a16:creationId xmlns:a16="http://schemas.microsoft.com/office/drawing/2014/main" id="{81404FA9-64B4-95CA-D823-71EA90CEEF40}"/>
              </a:ext>
            </a:extLst>
          </p:cNvPr>
          <p:cNvSpPr txBox="1"/>
          <p:nvPr/>
        </p:nvSpPr>
        <p:spPr>
          <a:xfrm>
            <a:off x="277203" y="897537"/>
            <a:ext cx="3031075" cy="277000"/>
          </a:xfrm>
          <a:prstGeom prst="rect">
            <a:avLst/>
          </a:prstGeom>
          <a:noFill/>
        </p:spPr>
        <p:txBody>
          <a:bodyPr wrap="square">
            <a:spAutoFit/>
          </a:bodyPr>
          <a:lstStyle/>
          <a:p>
            <a:r>
              <a:rPr lang="en-IN" sz="1200" b="1" dirty="0">
                <a:latin typeface="Verdana" panose="020B0604030504040204" pitchFamily="34" charset="0"/>
                <a:ea typeface="Verdana" panose="020B0604030504040204" pitchFamily="34" charset="0"/>
              </a:rPr>
              <a:t>Issue No</a:t>
            </a:r>
            <a:r>
              <a:rPr lang="en-IN" sz="1200" dirty="0">
                <a:latin typeface="Verdana" panose="020B0604030504040204" pitchFamily="34" charset="0"/>
                <a:ea typeface="Verdana" panose="020B0604030504040204" pitchFamily="34" charset="0"/>
              </a:rPr>
              <a:t> </a:t>
            </a:r>
            <a:r>
              <a:rPr lang="en-IN" sz="1200" b="1" dirty="0">
                <a:latin typeface="Verdana" panose="020B0604030504040204" pitchFamily="34" charset="0"/>
                <a:ea typeface="Verdana" panose="020B0604030504040204" pitchFamily="34" charset="0"/>
              </a:rPr>
              <a:t>…………...</a:t>
            </a:r>
            <a:endParaRPr lang="en-US" sz="1100" dirty="0">
              <a:latin typeface="Verdana" panose="020B0604030504040204" pitchFamily="34" charset="0"/>
              <a:ea typeface="Verdana" panose="020B0604030504040204" pitchFamily="34" charset="0"/>
            </a:endParaRPr>
          </a:p>
        </p:txBody>
      </p:sp>
      <p:sp>
        <p:nvSpPr>
          <p:cNvPr id="15" name="TextBox 14">
            <a:extLst>
              <a:ext uri="{FF2B5EF4-FFF2-40B4-BE49-F238E27FC236}">
                <a16:creationId xmlns:a16="http://schemas.microsoft.com/office/drawing/2014/main" id="{81404FA9-64B4-95CA-D823-71EA90CEEF40}"/>
              </a:ext>
            </a:extLst>
          </p:cNvPr>
          <p:cNvSpPr txBox="1"/>
          <p:nvPr/>
        </p:nvSpPr>
        <p:spPr>
          <a:xfrm>
            <a:off x="7840301" y="1004669"/>
            <a:ext cx="1692998" cy="276999"/>
          </a:xfrm>
          <a:prstGeom prst="rect">
            <a:avLst/>
          </a:prstGeom>
          <a:noFill/>
        </p:spPr>
        <p:txBody>
          <a:bodyPr wrap="square">
            <a:spAutoFit/>
          </a:bodyPr>
          <a:lstStyle/>
          <a:p>
            <a:r>
              <a:rPr lang="en-IN" sz="1200" b="1" dirty="0">
                <a:latin typeface="Verdana" panose="020B0604030504040204" pitchFamily="34" charset="0"/>
                <a:ea typeface="Verdana" panose="020B0604030504040204" pitchFamily="34" charset="0"/>
              </a:rPr>
              <a:t>Date………………..</a:t>
            </a:r>
            <a:endParaRPr lang="en-US" sz="11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529830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9AF3918-1403-C1C3-C1C8-667BF074BC26}"/>
              </a:ext>
            </a:extLst>
          </p:cNvPr>
          <p:cNvSpPr txBox="1"/>
          <p:nvPr/>
        </p:nvSpPr>
        <p:spPr>
          <a:xfrm>
            <a:off x="4188302" y="263794"/>
            <a:ext cx="1373800" cy="276999"/>
          </a:xfrm>
          <a:prstGeom prst="rect">
            <a:avLst/>
          </a:prstGeom>
          <a:noFill/>
        </p:spPr>
        <p:txBody>
          <a:bodyPr wrap="square">
            <a:spAutoFit/>
          </a:bodyPr>
          <a:lstStyle/>
          <a:p>
            <a:r>
              <a:rPr lang="en-IN" sz="1200" b="1" u="sng" dirty="0">
                <a:latin typeface="Verdana" panose="020B0604030504040204" pitchFamily="34" charset="0"/>
                <a:ea typeface="Verdana" panose="020B0604030504040204" pitchFamily="34" charset="0"/>
              </a:rPr>
              <a:t>ANNEXURE-I</a:t>
            </a:r>
            <a:endParaRPr lang="en-US" sz="1100" b="1" u="sng" dirty="0">
              <a:latin typeface="Verdana" panose="020B0604030504040204" pitchFamily="34" charset="0"/>
              <a:ea typeface="Verdana" panose="020B0604030504040204" pitchFamily="34" charset="0"/>
            </a:endParaRPr>
          </a:p>
        </p:txBody>
      </p:sp>
      <p:sp>
        <p:nvSpPr>
          <p:cNvPr id="5" name="TextBox 4">
            <a:extLst>
              <a:ext uri="{FF2B5EF4-FFF2-40B4-BE49-F238E27FC236}">
                <a16:creationId xmlns:a16="http://schemas.microsoft.com/office/drawing/2014/main" id="{ADD245BD-F90A-540F-C71A-6DB8428E714D}"/>
              </a:ext>
            </a:extLst>
          </p:cNvPr>
          <p:cNvSpPr txBox="1"/>
          <p:nvPr/>
        </p:nvSpPr>
        <p:spPr>
          <a:xfrm>
            <a:off x="901894" y="858029"/>
            <a:ext cx="8557791" cy="307777"/>
          </a:xfrm>
          <a:prstGeom prst="rect">
            <a:avLst/>
          </a:prstGeom>
          <a:noFill/>
        </p:spPr>
        <p:txBody>
          <a:bodyPr wrap="square">
            <a:spAutoFit/>
          </a:bodyPr>
          <a:lstStyle/>
          <a:p>
            <a:pPr algn="ctr"/>
            <a:r>
              <a:rPr lang="en-US" sz="1400" b="1" u="sng" dirty="0">
                <a:effectLst/>
                <a:latin typeface="Verdana" panose="020B0604030504040204" pitchFamily="34" charset="0"/>
                <a:ea typeface="Verdana" panose="020B0604030504040204" pitchFamily="34" charset="0"/>
                <a:cs typeface="Vijaya" panose="02020604020202020204" pitchFamily="18" charset="0"/>
              </a:rPr>
              <a:t>Guidelines for issuance of 90-days work experience certificate</a:t>
            </a:r>
            <a:endParaRPr lang="en-US" sz="1400" b="1" u="sng" dirty="0">
              <a:latin typeface="Verdana" panose="020B0604030504040204" pitchFamily="34" charset="0"/>
              <a:ea typeface="Verdana" panose="020B0604030504040204" pitchFamily="34" charset="0"/>
            </a:endParaRPr>
          </a:p>
        </p:txBody>
      </p:sp>
      <p:sp>
        <p:nvSpPr>
          <p:cNvPr id="6" name="TextBox 5">
            <a:extLst>
              <a:ext uri="{FF2B5EF4-FFF2-40B4-BE49-F238E27FC236}">
                <a16:creationId xmlns:a16="http://schemas.microsoft.com/office/drawing/2014/main" id="{A7EAF4E5-4551-79EE-E905-6936B1A0A195}"/>
              </a:ext>
            </a:extLst>
          </p:cNvPr>
          <p:cNvSpPr txBox="1"/>
          <p:nvPr/>
        </p:nvSpPr>
        <p:spPr>
          <a:xfrm>
            <a:off x="1167897" y="1350208"/>
            <a:ext cx="7994210" cy="4955203"/>
          </a:xfrm>
          <a:prstGeom prst="rect">
            <a:avLst/>
          </a:prstGeom>
          <a:noFill/>
        </p:spPr>
        <p:txBody>
          <a:bodyPr wrap="square">
            <a:spAutoFit/>
          </a:bodyPr>
          <a:lstStyle/>
          <a:p>
            <a:pPr marL="228600" indent="-228600" algn="just">
              <a:spcAft>
                <a:spcPts val="600"/>
              </a:spcAft>
              <a:buAutoNum type="arabicPeriod"/>
            </a:pPr>
            <a:r>
              <a:rPr lang="en-US" sz="1200" i="1" u="none" strike="noStrike" baseline="0" dirty="0">
                <a:latin typeface="Verdana" panose="020B0604030504040204" pitchFamily="34" charset="0"/>
                <a:ea typeface="Verdana" panose="020B0604030504040204" pitchFamily="34" charset="0"/>
              </a:rPr>
              <a:t>Work experience certificate to be issued </a:t>
            </a:r>
            <a:r>
              <a:rPr lang="en-US" sz="1200" i="1" dirty="0">
                <a:latin typeface="Verdana" panose="020B0604030504040204" pitchFamily="34" charset="0"/>
                <a:ea typeface="Verdana" panose="020B0604030504040204" pitchFamily="34" charset="0"/>
              </a:rPr>
              <a:t>on Letterhead of the Issuer, with the seal of the organization on behalf of which the issuer is issuing. Name of the Issuer, Phone number, Email ID and Address must be mentioned on the Letter head.</a:t>
            </a:r>
          </a:p>
          <a:p>
            <a:pPr marL="228600" indent="-228600" algn="just">
              <a:spcAft>
                <a:spcPts val="600"/>
              </a:spcAft>
              <a:buAutoNum type="arabicPeriod"/>
            </a:pPr>
            <a:r>
              <a:rPr lang="en-US" sz="1200" i="1" dirty="0">
                <a:latin typeface="Verdana" panose="020B0604030504040204" pitchFamily="34" charset="0"/>
                <a:ea typeface="Verdana" panose="020B0604030504040204" pitchFamily="34" charset="0"/>
              </a:rPr>
              <a:t>In case  the Issuer is individual employer of the worker, the certificate may be issued without Letter Head and Seal. But full name of the Employer, contact number., full address, etc. must be clearly mentioned. </a:t>
            </a:r>
          </a:p>
          <a:p>
            <a:pPr marL="228600" indent="-228600" algn="just">
              <a:spcAft>
                <a:spcPts val="600"/>
              </a:spcAft>
              <a:buAutoNum type="arabicPeriod"/>
            </a:pPr>
            <a:r>
              <a:rPr lang="en-IN" sz="1200" i="1" dirty="0">
                <a:latin typeface="Verdana" panose="020B0604030504040204" pitchFamily="34" charset="0"/>
                <a:ea typeface="Verdana" panose="020B0604030504040204" pitchFamily="34" charset="0"/>
              </a:rPr>
              <a:t>In case the Issuer is not the individual employer of the worker, the certificate must be issued by any of authorised issuer(as per </a:t>
            </a:r>
            <a:r>
              <a:rPr lang="en-IN" sz="1200" i="1" dirty="0" err="1">
                <a:latin typeface="Verdana" panose="020B0604030504040204" pitchFamily="34" charset="0"/>
                <a:ea typeface="Verdana" panose="020B0604030504040204" pitchFamily="34" charset="0"/>
              </a:rPr>
              <a:t>sl</a:t>
            </a:r>
            <a:r>
              <a:rPr lang="en-IN" sz="1200" i="1" dirty="0">
                <a:latin typeface="Verdana" panose="020B0604030504040204" pitchFamily="34" charset="0"/>
                <a:ea typeface="Verdana" panose="020B0604030504040204" pitchFamily="34" charset="0"/>
              </a:rPr>
              <a:t> no.8) with project work-name/details and project site full address, Employer name, Employer address and Employer  contact no.</a:t>
            </a:r>
          </a:p>
          <a:p>
            <a:pPr marL="228600" indent="-228600" algn="just">
              <a:spcAft>
                <a:spcPts val="600"/>
              </a:spcAft>
              <a:buAutoNum type="arabicPeriod"/>
            </a:pPr>
            <a:r>
              <a:rPr lang="en-IN" sz="1200" i="1" dirty="0">
                <a:latin typeface="Verdana" panose="020B0604030504040204" pitchFamily="34" charset="0"/>
                <a:ea typeface="Verdana" panose="020B0604030504040204" pitchFamily="34" charset="0"/>
              </a:rPr>
              <a:t>In case the Issuer is Registered Contractor, Registered </a:t>
            </a:r>
            <a:r>
              <a:rPr lang="en-IN" sz="1200" i="1">
                <a:latin typeface="Verdana" panose="020B0604030504040204" pitchFamily="34" charset="0"/>
                <a:ea typeface="Verdana" panose="020B0604030504040204" pitchFamily="34" charset="0"/>
              </a:rPr>
              <a:t>Construction Workers’ </a:t>
            </a:r>
            <a:r>
              <a:rPr lang="en-IN" sz="1200" i="1" dirty="0">
                <a:latin typeface="Verdana" panose="020B0604030504040204" pitchFamily="34" charset="0"/>
                <a:ea typeface="Verdana" panose="020B0604030504040204" pitchFamily="34" charset="0"/>
              </a:rPr>
              <a:t>Union, etc. then their Registration Number and Date of Registration must be clearly mentioned on the Letter Head.</a:t>
            </a:r>
          </a:p>
          <a:p>
            <a:pPr marL="228600" indent="-228600" algn="just">
              <a:spcAft>
                <a:spcPts val="600"/>
              </a:spcAft>
              <a:buAutoNum type="arabicPeriod"/>
            </a:pPr>
            <a:r>
              <a:rPr lang="en-IN" sz="1200" i="1" dirty="0">
                <a:latin typeface="Verdana" panose="020B0604030504040204" pitchFamily="34" charset="0"/>
                <a:ea typeface="Verdana" panose="020B0604030504040204" pitchFamily="34" charset="0"/>
              </a:rPr>
              <a:t>Registering Officer may ask the contractor/ construction workers union to produce their valid Registration Certificate in case of any doubt/confusions.</a:t>
            </a:r>
          </a:p>
          <a:p>
            <a:pPr marL="228600" indent="-228600" algn="just">
              <a:spcAft>
                <a:spcPts val="600"/>
              </a:spcAft>
              <a:buAutoNum type="arabicPeriod"/>
            </a:pPr>
            <a:r>
              <a:rPr lang="en-IN" sz="1200" i="1" dirty="0">
                <a:latin typeface="Verdana" panose="020B0604030504040204" pitchFamily="34" charset="0"/>
                <a:ea typeface="Verdana" panose="020B0604030504040204" pitchFamily="34" charset="0"/>
              </a:rPr>
              <a:t>In case the worker has not been engaged for at least 90 days construction work in a single Project site, then he/she shall provide multiple certificates with each certificate mentioning the required details of each project clearly specifying the Project details and site address.</a:t>
            </a:r>
            <a:endParaRPr lang="en-US" sz="1200" i="1" dirty="0">
              <a:latin typeface="Verdana" panose="020B0604030504040204" pitchFamily="34" charset="0"/>
              <a:ea typeface="Verdana" panose="020B0604030504040204" pitchFamily="34" charset="0"/>
            </a:endParaRPr>
          </a:p>
          <a:p>
            <a:pPr marL="228600" indent="-228600" algn="just">
              <a:spcAft>
                <a:spcPts val="600"/>
              </a:spcAft>
              <a:buAutoNum type="arabicPeriod"/>
            </a:pPr>
            <a:r>
              <a:rPr lang="en-US" sz="1200" i="1" dirty="0">
                <a:latin typeface="Verdana" panose="020B0604030504040204" pitchFamily="34" charset="0"/>
                <a:ea typeface="Verdana" panose="020B0604030504040204" pitchFamily="34" charset="0"/>
              </a:rPr>
              <a:t>In case the Experience certificate is issued under the name of Registered Construction Union, then the  certificate must be signed by the State head/District head of the Registered construction Union. Certificate issued by any other entity will not be considered.</a:t>
            </a:r>
          </a:p>
          <a:p>
            <a:pPr marL="228600" indent="-228600" algn="just">
              <a:spcAft>
                <a:spcPts val="600"/>
              </a:spcAft>
              <a:buAutoNum type="arabicPeriod"/>
            </a:pPr>
            <a:r>
              <a:rPr lang="en-US" sz="1200" i="1" dirty="0">
                <a:latin typeface="Verdana" panose="020B0604030504040204" pitchFamily="34" charset="0"/>
                <a:ea typeface="Verdana" panose="020B0604030504040204" pitchFamily="34" charset="0"/>
              </a:rPr>
              <a:t>List of authorized issuers: Individual </a:t>
            </a:r>
            <a:r>
              <a:rPr lang="en-US" sz="1200" i="1" u="none" strike="noStrike" baseline="0" dirty="0">
                <a:latin typeface="Verdana" panose="020B0604030504040204" pitchFamily="34" charset="0"/>
                <a:ea typeface="Verdana" panose="020B0604030504040204" pitchFamily="34" charset="0"/>
              </a:rPr>
              <a:t>Employer / Registered Contractor/ Executive Officer of the concerned Panchayati Raj Institution/Urban Local Bodies</a:t>
            </a:r>
            <a:r>
              <a:rPr lang="en-US" sz="1200" i="1" dirty="0">
                <a:latin typeface="Verdana" panose="020B0604030504040204" pitchFamily="34" charset="0"/>
                <a:ea typeface="Verdana" panose="020B0604030504040204" pitchFamily="34" charset="0"/>
              </a:rPr>
              <a:t>/</a:t>
            </a:r>
            <a:r>
              <a:rPr lang="en-US" sz="1200" i="1" u="none" strike="noStrike" baseline="0" dirty="0">
                <a:latin typeface="Verdana" panose="020B0604030504040204" pitchFamily="34" charset="0"/>
                <a:ea typeface="Verdana" panose="020B0604030504040204" pitchFamily="34" charset="0"/>
              </a:rPr>
              <a:t> Registered </a:t>
            </a:r>
            <a:r>
              <a:rPr lang="en-US" sz="1200" i="1" baseline="0" dirty="0">
                <a:latin typeface="Verdana" panose="020B0604030504040204" pitchFamily="34" charset="0"/>
                <a:ea typeface="Verdana" panose="020B0604030504040204" pitchFamily="34" charset="0"/>
              </a:rPr>
              <a:t>Construction workers’</a:t>
            </a:r>
            <a:r>
              <a:rPr lang="en-US" sz="1200" i="1" u="none" strike="noStrike" dirty="0">
                <a:latin typeface="Verdana" panose="020B0604030504040204" pitchFamily="34" charset="0"/>
                <a:ea typeface="Verdana" panose="020B0604030504040204" pitchFamily="34" charset="0"/>
              </a:rPr>
              <a:t> </a:t>
            </a:r>
            <a:r>
              <a:rPr lang="en-US" sz="1200" i="1" dirty="0">
                <a:latin typeface="Verdana" panose="020B0604030504040204" pitchFamily="34" charset="0"/>
                <a:ea typeface="Verdana" panose="020B0604030504040204" pitchFamily="34" charset="0"/>
              </a:rPr>
              <a:t>U</a:t>
            </a:r>
            <a:r>
              <a:rPr lang="en-US" sz="1200" i="1" u="none" strike="noStrike" baseline="0" dirty="0">
                <a:latin typeface="Verdana" panose="020B0604030504040204" pitchFamily="34" charset="0"/>
                <a:ea typeface="Verdana" panose="020B0604030504040204" pitchFamily="34" charset="0"/>
              </a:rPr>
              <a:t>nion</a:t>
            </a:r>
            <a:r>
              <a:rPr lang="en-US" sz="1200" i="1" dirty="0">
                <a:latin typeface="Verdana" panose="020B0604030504040204" pitchFamily="34" charset="0"/>
                <a:ea typeface="Verdana" panose="020B0604030504040204" pitchFamily="34" charset="0"/>
              </a:rPr>
              <a:t>.</a:t>
            </a:r>
            <a:endParaRPr lang="en-US" sz="1200" i="1" u="none" strike="noStrike" baseline="0" dirty="0">
              <a:latin typeface="Verdana" panose="020B0604030504040204" pitchFamily="34" charset="0"/>
              <a:ea typeface="Verdana" panose="020B0604030504040204" pitchFamily="34" charset="0"/>
            </a:endParaRPr>
          </a:p>
          <a:p>
            <a:pPr marL="228600" indent="-228600" algn="just">
              <a:spcAft>
                <a:spcPts val="600"/>
              </a:spcAft>
              <a:buAutoNum type="arabicPeriod"/>
            </a:pPr>
            <a:endParaRPr lang="en-US" sz="1200" i="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75341710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537</TotalTime>
  <Words>603</Words>
  <Application>Microsoft Office PowerPoint</Application>
  <PresentationFormat>A4 Paper (210x297 mm)</PresentationFormat>
  <Paragraphs>49</Paragraphs>
  <Slides>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Verdana</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Subbiah, Suresh - Ext</dc:creator>
  <cp:lastModifiedBy>LENOVO</cp:lastModifiedBy>
  <cp:revision>69</cp:revision>
  <dcterms:created xsi:type="dcterms:W3CDTF">2024-08-14T13:16:13Z</dcterms:created>
  <dcterms:modified xsi:type="dcterms:W3CDTF">2025-01-09T10:28:23Z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2024-08-14T13:24:35Z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2e5fa99b-cabb-493d-a1e0-041fc10d26c1</vt:lpwstr>
  </property>
  <property fmtid="{D5CDD505-2E9C-101B-9397-08002B2CF9AE}" pid="8" name="MSIP_Label_ea60d57e-af5b-4752-ac57-3e4f28ca11dc_ContentBits">
    <vt:lpwstr>0</vt:lpwstr>
  </property>
</Properties>
</file>